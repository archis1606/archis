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2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C5B"/>
    <a:srgbClr val="FCF9F3"/>
    <a:srgbClr val="FCF9F2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8" autoAdjust="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806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CB23-4E7A-5F8F-9133-E65E2FB7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258D3D7E-EB54-7CEF-CA39-109045924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C6C0BD5B-DB6F-1699-7476-31DB149A76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49F36DA3-7D83-1491-4B85-830F643D3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12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01145"/>
            <a:ext cx="5924550" cy="4653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SIH26102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Detection of Anomalies, Fraud &amp; Inefficiencies in MPLAD Scheme Implementation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dirty="0"/>
              <a:t> Government &amp; Public Services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151360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MAITRI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C8F6-15C3-D417-FD7E-9AE6B412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0113A5-9D22-9ACD-C7FF-5D2D93441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D2181A83-6DF1-FD51-FCA3-39BC178A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150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0E85A-C121-45EF-7A5C-1166261A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AED4E9-7F15-3797-D7C3-DE53B4CA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ACBA56-99AF-DC1D-C171-22364E09F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152" y="1500"/>
            <a:ext cx="2249850" cy="1062337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15F0FA38-973A-78C1-D6F9-54333E1E9C78}"/>
              </a:ext>
            </a:extLst>
          </p:cNvPr>
          <p:cNvSpPr txBox="1">
            <a:spLocks/>
          </p:cNvSpPr>
          <p:nvPr/>
        </p:nvSpPr>
        <p:spPr bwMode="auto">
          <a:xfrm>
            <a:off x="2077501" y="-161123"/>
            <a:ext cx="785610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ANOMALY DETECTION SYSTEM FOR MPLAD SCHEME</a:t>
            </a:r>
            <a:endParaRPr lang="en-US" sz="2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29" name="Picture 28" descr="The image illustrates a solution to project management problems, featuring tools like Al-Powered Anomaly Detection for transparency, MPLAD for risk alerts, and a Smart Monitoring Dashboard for monitoring quality and progress.&#10;&#10;AI-generated content may be incorrect.">
            <a:extLst>
              <a:ext uri="{FF2B5EF4-FFF2-40B4-BE49-F238E27FC236}">
                <a16:creationId xmlns:a16="http://schemas.microsoft.com/office/drawing/2014/main" id="{DC96A8F2-856A-E29D-A45A-DFB605E67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0" y="1045919"/>
            <a:ext cx="11081844" cy="3756239"/>
          </a:xfrm>
          <a:prstGeom prst="rect">
            <a:avLst/>
          </a:prstGeom>
        </p:spPr>
      </p:pic>
      <p:pic>
        <p:nvPicPr>
          <p:cNvPr id="39" name="Picture 38" descr="The image depicts an AI-powered MPLAD (presumably a monitoring or data visualization tool) system with key features highlighted: Automated, Greater, Verification, and Transparency, suggesting a comprehensive, efficient, and clear data management platform.&#10;&#10;AI-generated content may be incorrect.">
            <a:extLst>
              <a:ext uri="{FF2B5EF4-FFF2-40B4-BE49-F238E27FC236}">
                <a16:creationId xmlns:a16="http://schemas.microsoft.com/office/drawing/2014/main" id="{86C50E27-3C13-4048-4229-6A4A7B642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554172"/>
            <a:ext cx="2714707" cy="2340580"/>
          </a:xfrm>
          <a:prstGeom prst="rect">
            <a:avLst/>
          </a:prstGeom>
        </p:spPr>
      </p:pic>
      <p:pic>
        <p:nvPicPr>
          <p:cNvPr id="52" name="Picture 51" descr="The image depicts a sequential workflow process, starting from the eligibility check, through technical checks, document uploads, OCR extraction, anomaly detection, implementation verification, and finally, cross-validation of extracted data, leading to project implementation.&#10;&#10;AI-generated content may be incorrect.">
            <a:extLst>
              <a:ext uri="{FF2B5EF4-FFF2-40B4-BE49-F238E27FC236}">
                <a16:creationId xmlns:a16="http://schemas.microsoft.com/office/drawing/2014/main" id="{85ADFE25-E423-799F-B870-92A0119637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800"/>
          <a:stretch>
            <a:fillRect/>
          </a:stretch>
        </p:blipFill>
        <p:spPr>
          <a:xfrm>
            <a:off x="739471" y="4619709"/>
            <a:ext cx="10535479" cy="2216037"/>
          </a:xfrm>
          <a:prstGeom prst="rect">
            <a:avLst/>
          </a:prstGeom>
        </p:spPr>
      </p:pic>
      <p:pic>
        <p:nvPicPr>
          <p:cNvPr id="54" name="Picture 53" descr="The image depicts a sequential workflow process, starting from the eligibility check, through technical checks, document uploads, OCR extraction, anomaly detection, implementation verification, and finally, cross-validation of extracted data, leading to project implementation.&#10;&#10;AI-generated content may be incorrect.">
            <a:extLst>
              <a:ext uri="{FF2B5EF4-FFF2-40B4-BE49-F238E27FC236}">
                <a16:creationId xmlns:a16="http://schemas.microsoft.com/office/drawing/2014/main" id="{EE69C325-F7F0-0DF0-8BF6-56C13DA2DA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703" r="35756" b="75116"/>
          <a:stretch>
            <a:fillRect/>
          </a:stretch>
        </p:blipFill>
        <p:spPr>
          <a:xfrm>
            <a:off x="4728820" y="3934507"/>
            <a:ext cx="2571077" cy="747212"/>
          </a:xfrm>
          <a:prstGeom prst="rect">
            <a:avLst/>
          </a:prstGeom>
        </p:spPr>
      </p:pic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C544DCBC-7B07-01F9-DB67-8B51B9BA49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MAITRI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5A0C75-79F6-6CB4-C9AA-40E30560AD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812" y="617832"/>
            <a:ext cx="2714707" cy="9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69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D265683-6786-28BC-7033-23450E8756AD}"/>
              </a:ext>
            </a:extLst>
          </p:cNvPr>
          <p:cNvSpPr/>
          <p:nvPr/>
        </p:nvSpPr>
        <p:spPr>
          <a:xfrm>
            <a:off x="29497" y="1112962"/>
            <a:ext cx="12162502" cy="5233739"/>
          </a:xfrm>
          <a:prstGeom prst="rect">
            <a:avLst/>
          </a:prstGeom>
          <a:solidFill>
            <a:srgbClr val="FCF9F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6020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1F513AD-4364-FA4E-7247-6276CF5B6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8" y="863561"/>
            <a:ext cx="12192000" cy="548314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75A2C1D-20EC-1E46-CD4F-681F6E0AF6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MAITRI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0C74D-53F0-D6AF-DB52-AEF984316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863" y="4694666"/>
            <a:ext cx="559101" cy="172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27711B-3920-1259-C52A-D2F8292636B4}"/>
              </a:ext>
            </a:extLst>
          </p:cNvPr>
          <p:cNvSpPr txBox="1"/>
          <p:nvPr/>
        </p:nvSpPr>
        <p:spPr>
          <a:xfrm>
            <a:off x="4968240" y="4650165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001C5B"/>
                </a:solidFill>
              </a:rPr>
              <a:t>Mongo-DB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883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7D5FCE6-251A-E0B2-B238-112B9015066B}"/>
              </a:ext>
            </a:extLst>
          </p:cNvPr>
          <p:cNvGrpSpPr/>
          <p:nvPr/>
        </p:nvGrpSpPr>
        <p:grpSpPr>
          <a:xfrm>
            <a:off x="453223" y="875427"/>
            <a:ext cx="11062916" cy="5443540"/>
            <a:chOff x="564541" y="1095375"/>
            <a:chExt cx="11062916" cy="5443540"/>
          </a:xfrm>
        </p:grpSpPr>
        <p:pic>
          <p:nvPicPr>
            <p:cNvPr id="5" name="Picture 4" descr="The diagram illustrates a comparison between traditional manual methods and an AI-assisted approach for detecting anomalies in data, highlighting challenges like data quality and the need for human verification in the process.&#10;&#10;AI-generated content may be incorrect.">
              <a:extLst>
                <a:ext uri="{FF2B5EF4-FFF2-40B4-BE49-F238E27FC236}">
                  <a16:creationId xmlns:a16="http://schemas.microsoft.com/office/drawing/2014/main" id="{FDA6AD46-2238-7DC0-50AB-1541F370C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1014" r="535" b="5392"/>
            <a:stretch>
              <a:fillRect/>
            </a:stretch>
          </p:blipFill>
          <p:spPr>
            <a:xfrm>
              <a:off x="564541" y="1306182"/>
              <a:ext cx="11062916" cy="523273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2B5101-DDBB-E989-1F51-6B5D6BD45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4501" y="1095375"/>
              <a:ext cx="921669" cy="26407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9D3F843-40CC-751D-6EF7-8A39D5584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01175" y="1174143"/>
              <a:ext cx="378911" cy="279371"/>
            </a:xfrm>
            <a:prstGeom prst="rect">
              <a:avLst/>
            </a:prstGeom>
          </p:spPr>
        </p:pic>
      </p:grp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571AC833-A317-DDC7-1B01-0804A8B40E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MAITRI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769F4B-44E5-67F7-71AF-67EEF6918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8845" y="4499161"/>
            <a:ext cx="796949" cy="1757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9E4B94-3DF0-CFAF-F5D4-0EADCEEA0871}"/>
              </a:ext>
            </a:extLst>
          </p:cNvPr>
          <p:cNvSpPr txBox="1"/>
          <p:nvPr/>
        </p:nvSpPr>
        <p:spPr>
          <a:xfrm>
            <a:off x="9760830" y="4421254"/>
            <a:ext cx="892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1C5B"/>
                </a:solidFill>
              </a:rPr>
              <a:t>NIRVANA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81B2BCD-BE14-9FE6-5212-B83AE68198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9579" y="1373077"/>
            <a:ext cx="589306" cy="1321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47CBF8-185B-8B31-0B10-2645C27948E5}"/>
              </a:ext>
            </a:extLst>
          </p:cNvPr>
          <p:cNvSpPr txBox="1"/>
          <p:nvPr/>
        </p:nvSpPr>
        <p:spPr>
          <a:xfrm>
            <a:off x="9463778" y="1308357"/>
            <a:ext cx="740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001C5B"/>
                </a:solidFill>
              </a:rPr>
              <a:t>NIRVANA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9C06E3-5680-41E1-47DF-BE8CC74CD62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502"/>
          <a:stretch>
            <a:fillRect/>
          </a:stretch>
        </p:blipFill>
        <p:spPr>
          <a:xfrm>
            <a:off x="8015881" y="1059580"/>
            <a:ext cx="3636701" cy="3198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28650D-3623-5864-37BA-53E11EA27F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431" y="2734163"/>
            <a:ext cx="5728641" cy="21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91C9F71-504E-F84F-B99F-0CCE89803E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MAITRI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E82208-7161-D91D-BAD4-F80391B54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60" y="1203981"/>
            <a:ext cx="11813066" cy="20350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CAF995-B3BC-BFFB-0633-3226F287A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60" y="3347610"/>
            <a:ext cx="5018682" cy="2669731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D1D15F9-9900-B492-4A93-EEEBF858C09C}"/>
              </a:ext>
            </a:extLst>
          </p:cNvPr>
          <p:cNvGrpSpPr/>
          <p:nvPr/>
        </p:nvGrpSpPr>
        <p:grpSpPr>
          <a:xfrm>
            <a:off x="5129185" y="3301700"/>
            <a:ext cx="6952875" cy="2990366"/>
            <a:chOff x="5129185" y="3239004"/>
            <a:chExt cx="6952875" cy="299036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A32137D-A5FA-DB85-2E3B-1577F6988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391"/>
            <a:stretch>
              <a:fillRect/>
            </a:stretch>
          </p:blipFill>
          <p:spPr>
            <a:xfrm>
              <a:off x="5479415" y="3239005"/>
              <a:ext cx="6602645" cy="299036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4569C6-2432-1464-0855-705F1E0D1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14" r="95742"/>
            <a:stretch>
              <a:fillRect/>
            </a:stretch>
          </p:blipFill>
          <p:spPr>
            <a:xfrm>
              <a:off x="5129185" y="3239004"/>
              <a:ext cx="265470" cy="299036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FE807A-E4CE-CC0B-7B5E-9CD8AFB8B223}"/>
                </a:ext>
              </a:extLst>
            </p:cNvPr>
            <p:cNvSpPr txBox="1"/>
            <p:nvPr/>
          </p:nvSpPr>
          <p:spPr>
            <a:xfrm>
              <a:off x="5293360" y="3754120"/>
              <a:ext cx="2584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dirty="0"/>
                <a:t>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5736A8-6BD5-94C7-DA45-32C8F76DC376}"/>
                </a:ext>
              </a:extLst>
            </p:cNvPr>
            <p:cNvSpPr txBox="1"/>
            <p:nvPr/>
          </p:nvSpPr>
          <p:spPr>
            <a:xfrm>
              <a:off x="5293360" y="4180840"/>
              <a:ext cx="2584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dirty="0"/>
                <a:t>%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0061593-7BBD-9428-164F-A45E75D01DC8}"/>
                </a:ext>
              </a:extLst>
            </p:cNvPr>
            <p:cNvSpPr txBox="1"/>
            <p:nvPr/>
          </p:nvSpPr>
          <p:spPr>
            <a:xfrm>
              <a:off x="5283835" y="4599220"/>
              <a:ext cx="2584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dirty="0"/>
                <a:t>%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2A0C27-A492-F9A5-6F28-1B8B89EA7031}"/>
                </a:ext>
              </a:extLst>
            </p:cNvPr>
            <p:cNvSpPr txBox="1"/>
            <p:nvPr/>
          </p:nvSpPr>
          <p:spPr>
            <a:xfrm>
              <a:off x="5293360" y="5020195"/>
              <a:ext cx="2584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dirty="0"/>
                <a:t>%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D97275-4A50-B809-5BCE-5E7EBD0445A6}"/>
                </a:ext>
              </a:extLst>
            </p:cNvPr>
            <p:cNvSpPr txBox="1"/>
            <p:nvPr/>
          </p:nvSpPr>
          <p:spPr>
            <a:xfrm>
              <a:off x="5283835" y="5438575"/>
              <a:ext cx="2584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dirty="0"/>
                <a:t>%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F9969E-4CA6-6571-39B5-048A0A2B75CF}"/>
                </a:ext>
              </a:extLst>
            </p:cNvPr>
            <p:cNvSpPr txBox="1"/>
            <p:nvPr/>
          </p:nvSpPr>
          <p:spPr>
            <a:xfrm>
              <a:off x="5283835" y="5856934"/>
              <a:ext cx="25840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800" dirty="0"/>
                <a:t>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4" name="Picture 3" descr="The image displays a comprehensive reference guide for various data sources, technologies, and research papers related to infrastructure monitoring and smart city initiatives in India.&#10;&#10;AI-generated content may be incorrect.">
            <a:extLst>
              <a:ext uri="{FF2B5EF4-FFF2-40B4-BE49-F238E27FC236}">
                <a16:creationId xmlns:a16="http://schemas.microsoft.com/office/drawing/2014/main" id="{ABA01229-B9E8-F6B8-FDC2-AAD3DCFD0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35" b="5361"/>
          <a:stretch>
            <a:fillRect/>
          </a:stretch>
        </p:blipFill>
        <p:spPr>
          <a:xfrm>
            <a:off x="206806" y="1040953"/>
            <a:ext cx="11848461" cy="53180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828799B-82F2-A386-24FF-F3EC4386F7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MAITRI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1F208-7246-E9E5-6631-760CD02F0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591" y="4545327"/>
            <a:ext cx="5822345" cy="1777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943E75-C2CC-046F-EEB0-2ED1C30AB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200" y="4631790"/>
            <a:ext cx="3732822" cy="1586450"/>
          </a:xfrm>
          <a:prstGeom prst="roundRect">
            <a:avLst>
              <a:gd name="adj" fmla="val 861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2A4E4-7BD2-F8F0-C497-C91868E8F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430" y="4498257"/>
            <a:ext cx="1866764" cy="186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8316</TotalTime>
  <Words>108</Words>
  <Application>Microsoft Office PowerPoint</Application>
  <PresentationFormat>Widescreen</PresentationFormat>
  <Paragraphs>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Archis Agnihotri</cp:lastModifiedBy>
  <cp:revision>173</cp:revision>
  <dcterms:created xsi:type="dcterms:W3CDTF">2013-12-12T18:46:50Z</dcterms:created>
  <dcterms:modified xsi:type="dcterms:W3CDTF">2026-10-01T19:11:27Z</dcterms:modified>
  <cp:category/>
</cp:coreProperties>
</file>